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Calibri"/>
              </a:rPr>
              <a:t>Held-out test set: 106 retail chat turns (target ≥ 80%)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RoBERTa (zero-shot)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Macro-F1</c:v>
                  </c:pt>
                  <c:pt idx="2">
                    <c:v>Negative 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97.2</c:v>
                </c:pt>
                <c:pt idx="1">
                  <c:v>97.2</c:v>
                </c:pt>
                <c:pt idx="2">
                  <c:v>94.3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DistilBERT (fine-tuned)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Macro-F1</c:v>
                  </c:pt>
                  <c:pt idx="2">
                    <c:v>Negative 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</c:v>
                </c:pt>
                <c:pt idx="1">
                  <c:v>83.6</c:v>
                </c:pt>
                <c:pt idx="2">
                  <c:v>85.7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7373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EmpathIQ: Retail Customer Sentiment Analysis Chatbot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Automated Support Speed with Human Emotional Intelligence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0" y="4206240"/>
            <a:ext cx="9966960" cy="1143000"/>
          </a:xfrm>
          <a:prstGeom prst="roundRect">
            <a:avLst>
              <a:gd name="adj" fmla="val 9600"/>
            </a:avLst>
          </a:prstGeom>
          <a:solidFill>
            <a:srgbClr val="24334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429768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BY: Team Knight CODERS  |  TCS HACKATHON IMPLEMENTATION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LangGraph pipeline  •  Trajectory tracking  •  Rule-based escalation  •  Policy guardrail  •  React + FastAPI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CHALLENGE &amp; RESEARCH GAPS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Delayed Human Responses and Static Chatbots Drive Customer Churn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520440" cy="40690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7315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Feedback Volume &amp; Delays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Backlog Threatens Retention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organizations receive massive query volumes across chat, reviews, and surveys.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slow, subjective, and prone to human bottlenecks.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intervention during negative experiences damages brand equity and customer lifetime value.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256" y="2240280"/>
            <a:ext cx="3520440" cy="40690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783080"/>
            <a:ext cx="352044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2856" y="1783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Dissatisfaction &amp; Empathy Gap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2743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Robotic Interactions Frustrate Users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42900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consistently rate AI chatbots lower than human support agents.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shows the gap is fully mediated by a perceived lack of empathy (Markovitch et al., 2024).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bots answer transactionally and ignore the customer's emotional state.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9872" y="2240280"/>
            <a:ext cx="3520440" cy="40690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19872" y="1783080"/>
            <a:ext cx="35204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48472" y="1783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Tool Deficiencies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743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Evaluation &amp; Unsafe LLM Handoffs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342900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sentiment tools evaluate text statically, without multi-turn context.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bots fail to track emotional drift or trigger timely human escalation.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LLMs can hallucinate policy, such as promising unauthorized refunds or credit.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 PILLARS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EmpathIQ Combines Trajectory Tracking, Grounded RAG, and Rule-Based Escalation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6596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4028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Trajectory Tracking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3017520"/>
            <a:ext cx="3008376" cy="502920"/>
          </a:xfrm>
          <a:prstGeom prst="roundRect">
            <a:avLst>
              <a:gd name="adj" fmla="val 14545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30175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C(t) = 0.6 × C(t−1) + 0.4 × s(t)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703320"/>
            <a:ext cx="300837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classification: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labels every message negative, neutral or positive with a confidence score.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Decayed conversation score: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turns weigh more; s(t) is the signed confidence of turn 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over the last three turns catches a conversation that is getting worse, even when no single message is extreme.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90288" y="196596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4028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Empathetic RAG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017520"/>
            <a:ext cx="30083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Rule-picked strategy: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→ apologize, reflect, one next step; neutral → inform; positive → affirm.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Acknowledge, then act: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requires recognizing the feeling before solving the issue.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knowledge base: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over 8 products and 7 policies, plus direct lookup of 4 mock orders.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guardrail: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citing a price, duration or promise not in the retrieved facts are rejected and regenerated once.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78308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75904" y="196596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224028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Escalation Engine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301752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this order; the first match sets the reason: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474720"/>
            <a:ext cx="30083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fraud or "speak to a human" (high urgency)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or compensation demand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negatives in a row, confidence ≥ 0.7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C(t) ≤ −0.5 or drift ≤ −0.6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complaint repeated three times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still failing after the retry → template reply + escalation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PIPELINE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7-Node LangGraph Pipeline Keeps Every Reply Grounded and Policy-Safe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865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 &amp; PII Masking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masks emails, phone and card numbers before any model, log or LLM sees the text.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4992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96596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19659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3865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Scoring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788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cardiffnlp RoBERTa returns a 3-class label with confidence; a keyword lexicon tags the aspect.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64224" y="196596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19659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3865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Trajectory &amp; Rules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788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decayed score and drift, then checks rules R1–R5 and flags a reason and urgency.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7696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0576" y="196596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0576" y="19659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23865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Retrieval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2788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any order ID and retrieves the best-matching products and policies with TF-IDF.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3434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3434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7640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Generation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166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via LangChain writes the reply using the rule-picked strategy; falls back across models, then to a template.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64992" y="41605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47872" y="43434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47872" y="43434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47640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 Validation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47872" y="5166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unsupported prices, durations or promises; retries once with a stricter prompt, then forces template + escalation.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81344" y="41605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64224" y="43434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64224" y="43434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7640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Finalize &amp; Deliver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5166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human-handoff line and agent summary when escalated; returns reply, sentiment and trajectory to the UI.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97696" y="41605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180576" y="43434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StateGraph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nodes, 1 conditional retry edge (guardrail → generate).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records the node path it took, shown live in the UI.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PER-MESSAGE DECISION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Path Per Message, With a Single Guarded Retry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920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message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→ POST /chat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8288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6F6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828800"/>
            <a:ext cx="1920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PII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phone, card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18288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6F6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828800"/>
            <a:ext cx="1920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sentiment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label + confidence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18288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6F6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828800"/>
            <a:ext cx="1920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trajectory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decayed score + drift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92640" y="18288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DE8EE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0" y="1828800"/>
            <a:ext cx="1920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rules R1–R5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reason + urgency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68880" y="22631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54880" y="22631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40880" y="22631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26880" y="22631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92640" y="35204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6F6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0" y="3520440"/>
            <a:ext cx="1920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lookup + TF-IDF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35204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6F6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3520440"/>
            <a:ext cx="1920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reply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via LangChain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3360420"/>
            <a:ext cx="2103120" cy="1188720"/>
          </a:xfrm>
          <a:prstGeom prst="diamond">
            <a:avLst/>
          </a:prstGeom>
          <a:solidFill>
            <a:srgbClr val="FDF1E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3604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606040" y="35204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6F6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06040" y="3520440"/>
            <a:ext cx="1920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reply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handoff if escalated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52044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520440"/>
            <a:ext cx="1691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UI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reply, sentiment, trajectory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652760" y="2697480"/>
            <a:ext cx="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26880" y="39547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6995160" y="395478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31" name="Shape 29"/>
          <p:cNvSpPr/>
          <p:nvPr/>
        </p:nvSpPr>
        <p:spPr>
          <a:xfrm>
            <a:off x="4526280" y="39547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480560" y="36621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40280" y="39547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4892040" y="5120640"/>
            <a:ext cx="2103120" cy="1097280"/>
          </a:xfrm>
          <a:prstGeom prst="diamond">
            <a:avLst/>
          </a:prstGeom>
          <a:solidFill>
            <a:srgbClr val="FDF1E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92040" y="5120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retried?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606040" y="52349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DE8EE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606040" y="5234940"/>
            <a:ext cx="1920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reply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force escalation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43600" y="4549140"/>
            <a:ext cx="0" cy="5715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6035040" y="4663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95160" y="5669280"/>
            <a:ext cx="1371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66760" y="4389120"/>
            <a:ext cx="0" cy="1280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42" name="Text 40"/>
          <p:cNvSpPr txBox="1"/>
          <p:nvPr/>
        </p:nvSpPr>
        <p:spPr>
          <a:xfrm>
            <a:off x="8503920" y="4846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retry once,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prompt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26280" y="56692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480560" y="5376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566160" y="4389120"/>
            <a:ext cx="0" cy="8458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46" name="Text 4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never block the reply: when one fires, the LLM is told a human is taking over and Finalize attaches the agent handoff summary.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KPIs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Sentiment Models Clear the 80% Accuracy Target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97.2%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0574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accuracy: RoBERTa zero-shot (production default)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0.972  •  Negative recall 0.943  •  cardiffnlp/twitter-roberta-base-sentiment-latest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84.0%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4434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fine-tuned in-house on real Amazon reviews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577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0.836  •  Negative recall 0.857  •  3,000 reviews, 1–2★ neg, 3★ neu, 4–5★ pos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97880" y="1783080"/>
            <a:ext cx="57150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13" name="Chart 0" descr=""/>
          <p:cNvGraphicFramePr/>
          <p:nvPr/>
        </p:nvGraphicFramePr>
        <p:xfrm>
          <a:off x="6080760" y="1920240"/>
          <a:ext cx="5349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106 balanced retail chat turns (35 negative, 35 neutral, 36 positive), never used for training. Small, AI-assisted labels: treat as indicative.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+ FastAPI Full Stack Driven by a Stateful LangGraph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4144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with live sentiment badge, trajectory chart and escalation card.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mock data: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panel, stat and scenario is served by the backend pipeline.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alternative UI for quick demos.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20574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783080"/>
            <a:ext cx="54406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783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Orchestration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244144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/chat, /conversations, /stats, /insights, /knowledge.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7-node StateGraph with a conditional guardrail-retry edge.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Gemini: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wrapper with model fallback; Claude as backup.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114800"/>
            <a:ext cx="54406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14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NLP Engine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7316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(cardiffnlp):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sentiment, zero-shot, production default.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Amazon reviews with HF Transformers, Datasets and PyTorch.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lexicon: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tagging for delivery, price, product and service.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438912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4114800"/>
            <a:ext cx="5440680" cy="502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8232" y="4114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Safety &amp; Data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477316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TF-IDF: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over a JSON retail knowledge base.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guardrail node: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claim check plus retry, covered by pytest regression tests.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state: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PII masking; in-memory session state.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OPERATIONAL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Expansion Focuses on Deep ABSA, Predictive ML, and Multilingual Support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Aspect-Based Sentiment (ABSA)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fine-grained ABSA models into dialogue flows to evaluate multi-aspect complaints (e.g. positive product quality but negative shipping speed).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823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20116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ML Handoff Engine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27432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rules with a trained handoff predictor (e.g. DAMI network) to anticipate chatbot failure before frustration spikes.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343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434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&amp; Code-Mixed Support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074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training and evaluation to Hinglish and code-mixed queries for diverse retail customer segments.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41148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343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28232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43434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Hardening &amp; A/B Testing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5074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Redis/Postgres state, vector search, LangSmith tracing; tune escalation thresholds on real chat logs (late handoffs penalized 5×) and A/B test AI disclosure.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EmpathIQ: Retail Customer Sentiment Analysis Chatbot</dc:title>
  <dc:subject>PptxGenJS Presentation</dc:subject>
  <dc:creator>PptxGenJS</dc:creator>
  <cp:lastModifiedBy>PptxGenJS</cp:lastModifiedBy>
  <cp:revision>1</cp:revision>
  <dcterms:created xsi:type="dcterms:W3CDTF">2026-09-30T10:30:25Z</dcterms:created>
  <dcterms:modified xsi:type="dcterms:W3CDTF">2026-09-30T10:30:25Z</dcterms:modified>
</cp:coreProperties>
</file>